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0" y="0"/>
            <a:ext cx="137160" cy="6858000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TTI AI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스캐너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 카메라로 식품 신선도를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안에 판별합니다.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548640" cy="36576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54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Inc.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www.lotusbio.co.kr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Time-Temperature Indicator × On-device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280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색이 변하는 칩, 카메라가 읽는 신선도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16636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20640" y="2377440"/>
            <a:ext cx="1463040" cy="1463040"/>
          </a:xfrm>
          <a:prstGeom prst="ellipse">
            <a:avLst/>
          </a:prstGeom>
          <a:solidFill>
            <a:srgbClr val="E5E7E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0–3 days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660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377440"/>
            <a:ext cx="1463040" cy="1463040"/>
          </a:xfrm>
          <a:prstGeom prst="ellipse">
            <a:avLst/>
          </a:prstGeom>
          <a:solidFill>
            <a:srgbClr val="5E9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4088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3–7 days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0684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0" y="2377440"/>
            <a:ext cx="1463040" cy="1463040"/>
          </a:xfrm>
          <a:prstGeom prst="ellipse">
            <a:avLst/>
          </a:prstGeom>
          <a:solidFill>
            <a:srgbClr val="2A69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6112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7+ days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93776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&lt;1s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93776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속도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6092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6092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6092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추론 비용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8408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8408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78408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처리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데모 — Web 기반 PoC 아키텍처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시장 검증을 위한 브라우저 단일 페이지(SPA) 구조 · 현재 동작 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Browser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PWA · iOS / Android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+ Vite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19467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68107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68107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913827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59547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getUserMedia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MediaStream 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Torch / Exposure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30374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79014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79014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24734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70454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 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TensorFlow.js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지시계 vs 일반 사물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41281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9921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89921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35641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81361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원형 ROI 샘플링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RGB · σ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HSV 채도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552188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00828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0E5C8A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00828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46548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192268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 / Good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Expired / Unsupported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16916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spc="1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ONLY · 서버 추론 없음 · 인터넷 연결 없이도 정적 파일만 있으면 동작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DCEFE5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434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PoC 검증 완료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1520" y="4846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색상 분류 정확도 90%+ (정상 조명·정렬 기준)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AI 1차 게이트로 비-칩 객체 사전 필터링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152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실시간 진단 패널 + 자동 캡처 + 토치 보정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" y="5806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별도 설치 없이 URL만으로 사용자 테스트 가능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4297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7E8D0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4434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 Web 환경의 구조적 한계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모델 크기 5MB 이하 권장 → 정확도 상한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92240" y="5166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카메라 노출/플래시 제어 제한적 (브라우저 의존)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9224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백그라운드 동작·푸시·위젯 불가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92240" y="5806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iOS Safari WebGL 호환성 이슈 잔존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— Native App 아키텍처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우선 개발 → iOS 확대 · 100% 온디바이스 추론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Camera2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AVFoundation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노출/포커스/RAW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83475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40675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40675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886395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Pre-process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32115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Perspective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 Balance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(OpenCV mobile)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66950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2415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2415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26987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1559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YOLOv10n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위치·회전·크기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50425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7625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07625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653345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99065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EfficientFormer-L1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int8 quantized 8MB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533900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9110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0E5C8A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99110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03682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+ Log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8254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0–10 score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local cache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520440"/>
            <a:ext cx="11277295" cy="4572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6B7785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40080" y="35661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Optional · 신뢰도 &lt; 0.7 일 때만 → Cloud Vision LLM Fallback (GPT-4V / Gemini Vision) — 신규 칩 제형 대응 + 데이터 수집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16052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Native App이 필요한가 — Web 한계  vs  Native 강점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4617720"/>
            <a:ext cx="5638648" cy="320040"/>
          </a:xfrm>
          <a:prstGeom prst="rect">
            <a:avLst/>
          </a:prstGeom>
          <a:solidFill>
            <a:srgbClr val="C77E1E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17720"/>
            <a:ext cx="5638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데모의 한계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95848" y="4617720"/>
            <a:ext cx="5638648" cy="32004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5848" y="4617720"/>
            <a:ext cx="5638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App의 강점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93776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377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불가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095848" y="493776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8728" y="49377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완전 오프라인 동작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제어 제한적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095848" y="525780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78728" y="525780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Camera2 정밀 노출·플래시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557784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557784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크기 5MB 제약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095848" y="557784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78728" y="557784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50MB+ 고정밀 모델 탑재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589788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" y="589788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불가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095848" y="589788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78728" y="589788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푸시 · 위젯 · 백그라운드 스캔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621792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080" y="621792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전송 우려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095848" y="621792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78728" y="621792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온디바이스 = 프라이버시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653796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65379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화면 UX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095848" y="653796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78728" y="65379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이력 · 바코드 · 재고 연동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— 현재 vs Phase 2 로드맵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사전학습 → TTI 전용 데이터셋 fine-tuning → 모바일 양자화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5532120" cy="3383280"/>
          </a:xfrm>
          <a:prstGeom prst="roundRect">
            <a:avLst>
              <a:gd name="adj" fmla="val 4054"/>
            </a:avLst>
          </a:prstGeom>
          <a:solidFill>
            <a:srgbClr val="F2F7F9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5532120" cy="457200"/>
          </a:xfrm>
          <a:prstGeom prst="rect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— 현재 (Web PoC)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37744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 Range + MobileNet Gate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288036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 v1 (TFJS, 16MB)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1729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317296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only — TTI 학습 없음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" y="3465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방식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3465576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RGB 임계값 룰 기반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37581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3758184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분류 (Fresh/Good/Expired)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4160520"/>
            <a:ext cx="4983480" cy="18288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5196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한계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조명 변화에 취약 (실내·형광·자연광 편차)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4736592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각도/원근/거리 보정 없음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" y="4901184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신규 칩 제형 추가 시 룰 재작성 필요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65776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3단계 분류만 가능 (연속값 불가)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02375" y="1828800"/>
            <a:ext cx="5532120" cy="3383280"/>
          </a:xfrm>
          <a:prstGeom prst="roundRect">
            <a:avLst>
              <a:gd name="adj" fmla="val 4054"/>
            </a:avLst>
          </a:prstGeom>
          <a:solidFill>
            <a:srgbClr val="E8F1F4"/>
          </a:solidFill>
          <a:ln w="19050">
            <a:solidFill>
              <a:srgbClr val="0E5C8A"/>
            </a:solidFill>
            <a:prstDash val="solid"/>
          </a:ln>
          <a:effectLst>
            <a:outerShdw sx="100000" sy="100000" kx="0" ky="0" algn="bl" rotWithShape="0" blurRad="152400" dist="38100" dir="5400000">
              <a:srgbClr val="0E5C8A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02375" y="1828800"/>
            <a:ext cx="5532120" cy="4572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5255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— Native App (목표)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6695" y="237744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학습 CNN + Detection Pipeline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76695" y="28803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39735" y="288036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YOLOv10n (5MB) — 칩 위치·회전·크기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76695" y="31546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39735" y="315468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EfficientFormer-L1 / MobileViT-S (8MB int8)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76695" y="34290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939735" y="342900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→ TTI 10K+ 자체 데이터셋 fine-tune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76695" y="37033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39735" y="370332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OpenCV — Perspective + WB + Auto-exposure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6695" y="39776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39735" y="397764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0–10 연속 score (회귀)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76695" y="42519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Fallback (선택)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39735" y="425196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 Vision LLM — 신규 케이스만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76695" y="4572000"/>
            <a:ext cx="4983480" cy="18288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7669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669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+15%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5685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5685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3701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3701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프라이버시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31717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1717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신모델 확장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03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로드맵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97280" y="5806440"/>
            <a:ext cx="9997135" cy="36576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78408" y="5705856"/>
            <a:ext cx="237744" cy="237744"/>
          </a:xfrm>
          <a:prstGeom prst="ellipse">
            <a:avLst/>
          </a:prstGeom>
          <a:solidFill>
            <a:srgbClr val="4FB3B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'26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82880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TTI 데이터 수집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10K+ 라벨링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310786" y="5705856"/>
            <a:ext cx="237744" cy="237744"/>
          </a:xfrm>
          <a:prstGeom prst="ellipse">
            <a:avLst/>
          </a:prstGeom>
          <a:solidFill>
            <a:srgbClr val="4FB3B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89578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'26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515258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(int8)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643165" y="5705856"/>
            <a:ext cx="237744" cy="237744"/>
          </a:xfrm>
          <a:prstGeom prst="ellipse">
            <a:avLst/>
          </a:prstGeom>
          <a:solidFill>
            <a:srgbClr val="0E5C8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21957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'26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47637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Beta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975543" y="5705856"/>
            <a:ext cx="237744" cy="237744"/>
          </a:xfrm>
          <a:prstGeom prst="ellipse">
            <a:avLst/>
          </a:prstGeom>
          <a:solidFill>
            <a:srgbClr val="0E5C8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454335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 '27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180015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출시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파일럿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지속적인 투자가 필요한가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정확도의 핵심은 모델이 아니라 데이터 — 한 번 만들고 끝나는 사업이 아닙니다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5532120" cy="2331720"/>
          </a:xfrm>
          <a:prstGeom prst="roundRect">
            <a:avLst>
              <a:gd name="adj" fmla="val 5882"/>
            </a:avLst>
          </a:prstGeom>
          <a:solidFill>
            <a:srgbClr val="E8F1F4"/>
          </a:solidFill>
          <a:ln w="15240">
            <a:solidFill>
              <a:srgbClr val="0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5532120" cy="4572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— 데이터셋 확보 (가장 큰 자본 집행)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라벨링 사진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조명·각도·배경·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포장재·부분 변색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34696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4696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개월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4696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수집·라벨링 기간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9268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라벨러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식품공학 검수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0812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812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₩4 억+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00812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데이터 비용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05384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라벨링 외주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촬영 + 검수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02375" y="1828800"/>
            <a:ext cx="5532120" cy="2331720"/>
          </a:xfrm>
          <a:prstGeom prst="roundRect">
            <a:avLst>
              <a:gd name="adj" fmla="val 5882"/>
            </a:avLst>
          </a:prstGeom>
          <a:solidFill>
            <a:srgbClr val="DCEFE5"/>
          </a:solidFill>
          <a:ln w="15240">
            <a:solidFill>
              <a:srgbClr val="2E7D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2375" y="1828800"/>
            <a:ext cx="5532120" cy="45720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5255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— Active Learning 사이클 (지속 운영비)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56955" y="2834640"/>
            <a:ext cx="822960" cy="548640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235" y="285292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분기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84387" y="2057400"/>
            <a:ext cx="768096" cy="502920"/>
          </a:xfrm>
          <a:prstGeom prst="ellipse">
            <a:avLst/>
          </a:prstGeom>
          <a:solidFill>
            <a:srgbClr val="4FB3B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65515" y="203911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촬영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361627" y="2834640"/>
            <a:ext cx="768096" cy="502920"/>
          </a:xfrm>
          <a:prstGeom prst="ellipse">
            <a:avLst/>
          </a:prstGeom>
          <a:solidFill>
            <a:srgbClr val="C77E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42755" y="2816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신뢰도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추출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584387" y="3611880"/>
            <a:ext cx="768096" cy="502920"/>
          </a:xfrm>
          <a:prstGeom prst="ellipse">
            <a:avLst/>
          </a:prstGeom>
          <a:solidFill>
            <a:srgbClr val="0E5C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65515" y="359359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재라벨링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807147" y="2834640"/>
            <a:ext cx="768096" cy="502920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8275" y="2816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신모델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OTA 배포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85255" y="379476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비용 — 분기당 ₩6,000만+ (재라벨링 + 컴퓨팅 + 모델 배포)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434840"/>
            <a:ext cx="11277295" cy="1828800"/>
          </a:xfrm>
          <a:prstGeom prst="roundRect">
            <a:avLst>
              <a:gd name="adj" fmla="val 7500"/>
            </a:avLst>
          </a:prstGeom>
          <a:solidFill>
            <a:srgbClr val="F7E8D0"/>
          </a:solidFill>
          <a:ln w="15240">
            <a:solidFill>
              <a:srgbClr val="C77E1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4434840"/>
            <a:ext cx="11277295" cy="457200"/>
          </a:xfrm>
          <a:prstGeom prst="rect">
            <a:avLst/>
          </a:prstGeom>
          <a:solidFill>
            <a:srgbClr val="C77E1E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4805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— 정확도 100%는 물리적으로 불가능합니다 (현실적 기대치 공유)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983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통제할 수 없는 5가지 변수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7240" y="5303520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카메라 센서 편차 (기종마다 색감 다름)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" y="5468112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조명 환경 (LED·형광등·자연광·그늘)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5632704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포장재 반사·결로·비닐 광택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5797296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 칩 자체의 제조 편차 · 온도 이력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96188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👆  사용자 촬영 각도 · 손가락 가림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00800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목표 정확도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5303520"/>
            <a:ext cx="2468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7E1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5349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95%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315200" y="5349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Beta 출시 시점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52560" y="5303520"/>
            <a:ext cx="2468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98280" y="5349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98%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966960" y="5349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운영 후 (Active Learning)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400800" y="5916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보장형 의료/안전 인증 도구가 아닌 "보조 판정 도구"로 포지셔닝 — 식약처 식품 보조표시 가이드라인 준용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Lotusbio TTI AI 품질 스캐너 — 투자자 자료</dc:title>
  <dc:subject>PptxGenJS Presentation</dc:subject>
  <dc:creator>Lotusbio</dc:creator>
  <cp:lastModifiedBy>Lotusbio</cp:lastModifiedBy>
  <cp:revision>1</cp:revision>
  <dcterms:created xsi:type="dcterms:W3CDTF">2026-04-21T02:18:11Z</dcterms:created>
  <dcterms:modified xsi:type="dcterms:W3CDTF">2026-04-21T02:18:11Z</dcterms:modified>
</cp:coreProperties>
</file>