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0E5C8A"/>
          </a:solidFill>
          <a:ln w="12700">
            <a:solidFill>
              <a:srgbClr val="0E5C8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0" y="0"/>
            <a:ext cx="137160" cy="6858000"/>
          </a:xfrm>
          <a:prstGeom prst="rect">
            <a:avLst/>
          </a:prstGeom>
          <a:solidFill>
            <a:srgbClr val="4FB3BF"/>
          </a:solidFill>
          <a:ln w="12700">
            <a:solidFill>
              <a:srgbClr val="4FB3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B8E0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INVESTOR DECK · 2026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3657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TTI AI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548640" y="237744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 스캐너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548640" y="338328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E0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스마트폰 카메라로 식품 신선도를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B8E0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1초 안에 판별합니다.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4572000"/>
            <a:ext cx="548640" cy="36576"/>
          </a:xfrm>
          <a:prstGeom prst="rect">
            <a:avLst/>
          </a:prstGeom>
          <a:solidFill>
            <a:srgbClr val="4FB3BF"/>
          </a:solidFill>
          <a:ln w="12700">
            <a:solidFill>
              <a:srgbClr val="4FB3B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4754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Lotusbio Inc.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8640" y="5120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E0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www.lotusbio.co.kr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754880" y="9144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Time-Temperature Indicator × On-device AI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754880" y="12801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색이 변하는 칩, 카메라가 읽는 신선도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166360" y="2450592"/>
            <a:ext cx="1463040" cy="1463040"/>
          </a:xfrm>
          <a:prstGeom prst="ellipse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120640" y="2377440"/>
            <a:ext cx="1463040" cy="1463040"/>
          </a:xfrm>
          <a:prstGeom prst="ellipse">
            <a:avLst/>
          </a:prstGeom>
          <a:solidFill>
            <a:srgbClr val="E5E7E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20640" y="39776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Fresh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120640" y="429768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7D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0–3 days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086600" y="2450592"/>
            <a:ext cx="1463040" cy="1463040"/>
          </a:xfrm>
          <a:prstGeom prst="ellipse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040880" y="2377440"/>
            <a:ext cx="1463040" cy="1463040"/>
          </a:xfrm>
          <a:prstGeom prst="ellipse">
            <a:avLst/>
          </a:prstGeom>
          <a:solidFill>
            <a:srgbClr val="5E9CB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40880" y="39776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Good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040880" y="429768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77E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3–7 days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006840" y="2450592"/>
            <a:ext cx="1463040" cy="1463040"/>
          </a:xfrm>
          <a:prstGeom prst="ellipse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961120" y="2377440"/>
            <a:ext cx="1463040" cy="1463040"/>
          </a:xfrm>
          <a:prstGeom prst="ellipse">
            <a:avLst/>
          </a:prstGeom>
          <a:solidFill>
            <a:srgbClr val="2A698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961120" y="39776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Expired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961120" y="429768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23B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7+ days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937760" y="4754880"/>
            <a:ext cx="2194560" cy="1280160"/>
          </a:xfrm>
          <a:prstGeom prst="roundRect">
            <a:avLst>
              <a:gd name="adj" fmla="val 7143"/>
            </a:avLst>
          </a:prstGeom>
          <a:solidFill>
            <a:srgbClr val="F2F7F9"/>
          </a:solidFill>
          <a:ln w="6350">
            <a:solidFill>
              <a:srgbClr val="CFDCE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37760" y="484632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⚡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4937760" y="521208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5C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&lt;1s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4937760" y="566928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속도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360920" y="4754880"/>
            <a:ext cx="2194560" cy="1280160"/>
          </a:xfrm>
          <a:prstGeom prst="roundRect">
            <a:avLst>
              <a:gd name="adj" fmla="val 7143"/>
            </a:avLst>
          </a:prstGeom>
          <a:solidFill>
            <a:srgbClr val="F2F7F9"/>
          </a:solidFill>
          <a:ln w="6350">
            <a:solidFill>
              <a:srgbClr val="CFDCE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60920" y="484632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💰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360920" y="521208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5C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0원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7360920" y="566928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건당 추론 비용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9784080" y="4754880"/>
            <a:ext cx="2194560" cy="1280160"/>
          </a:xfrm>
          <a:prstGeom prst="roundRect">
            <a:avLst>
              <a:gd name="adj" fmla="val 7143"/>
            </a:avLst>
          </a:prstGeom>
          <a:solidFill>
            <a:srgbClr val="F2F7F9"/>
          </a:solidFill>
          <a:ln w="6350">
            <a:solidFill>
              <a:srgbClr val="CFDCE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784080" y="484632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🔒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9784080" y="521208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5C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100%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9784080" y="566928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온디바이스 처리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/ 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E5C8A"/>
          </a:solidFill>
          <a:ln w="12700">
            <a:solidFill>
              <a:srgbClr val="0E5C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Lotusbio · TTI AI Scanner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991295" y="164592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INVESTOR DECK ·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/ 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502920"/>
            <a:ext cx="112772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데모 — Web 기반 PoC 아키텍처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빠른 시장 검증을 위한 브라우저 단일 페이지(SPA) 구조 · 현재 동작 중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548640" cy="54864"/>
          </a:xfrm>
          <a:prstGeom prst="rect">
            <a:avLst/>
          </a:prstGeom>
          <a:solidFill>
            <a:srgbClr val="4FB3BF"/>
          </a:solidFill>
          <a:ln w="12700">
            <a:solidFill>
              <a:srgbClr val="4FB3B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011680"/>
            <a:ext cx="1633667" cy="1828800"/>
          </a:xfrm>
          <a:prstGeom prst="roundRect">
            <a:avLst>
              <a:gd name="adj" fmla="val 6717"/>
            </a:avLst>
          </a:prstGeom>
          <a:solidFill>
            <a:srgbClr val="F2F7F9"/>
          </a:solidFill>
          <a:ln w="9525">
            <a:solidFill>
              <a:srgbClr val="CFDCE2"/>
            </a:solidFill>
            <a:prstDash val="solid"/>
          </a:ln>
          <a:effectLst>
            <a:outerShdw sx="100000" sy="100000" kx="0" ky="0" algn="bl" rotWithShape="0" blurRad="101600" dist="25400" dir="5400000">
              <a:srgbClr val="AAAAAA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7200" y="2103120"/>
            <a:ext cx="163366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📱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02920" y="2514600"/>
            <a:ext cx="15422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Mobile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Browser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2880360"/>
            <a:ext cx="1450787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PWA · iOS / Android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+ Vite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319467" y="2788920"/>
            <a:ext cx="320040" cy="274320"/>
          </a:xfrm>
          <a:prstGeom prst="rightArrow">
            <a:avLst/>
          </a:prstGeom>
          <a:solidFill>
            <a:srgbClr val="4FB3BF"/>
          </a:solidFill>
          <a:ln w="12700">
            <a:solidFill>
              <a:srgbClr val="4FB3B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68107" y="2011680"/>
            <a:ext cx="1633667" cy="1828800"/>
          </a:xfrm>
          <a:prstGeom prst="roundRect">
            <a:avLst>
              <a:gd name="adj" fmla="val 6717"/>
            </a:avLst>
          </a:prstGeom>
          <a:solidFill>
            <a:srgbClr val="F2F7F9"/>
          </a:solidFill>
          <a:ln w="9525">
            <a:solidFill>
              <a:srgbClr val="CFDCE2"/>
            </a:solidFill>
            <a:prstDash val="solid"/>
          </a:ln>
          <a:effectLst>
            <a:outerShdw sx="100000" sy="100000" kx="0" ky="0" algn="bl" rotWithShape="0" blurRad="101600" dist="25400" dir="5400000">
              <a:srgbClr val="AAAAAA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2868107" y="2103120"/>
            <a:ext cx="163366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📷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2913827" y="2514600"/>
            <a:ext cx="15422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Camera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959547" y="2880360"/>
            <a:ext cx="1450787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getUserMedia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MediaStream API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Torch / Exposure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730374" y="2788920"/>
            <a:ext cx="320040" cy="274320"/>
          </a:xfrm>
          <a:prstGeom prst="rightArrow">
            <a:avLst/>
          </a:prstGeom>
          <a:solidFill>
            <a:srgbClr val="4FB3BF"/>
          </a:solidFill>
          <a:ln w="12700">
            <a:solidFill>
              <a:srgbClr val="4FB3B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279014" y="2011680"/>
            <a:ext cx="1633667" cy="1828800"/>
          </a:xfrm>
          <a:prstGeom prst="roundRect">
            <a:avLst>
              <a:gd name="adj" fmla="val 6717"/>
            </a:avLst>
          </a:prstGeom>
          <a:solidFill>
            <a:srgbClr val="B8E0E4"/>
          </a:solidFill>
          <a:ln w="9525">
            <a:solidFill>
              <a:srgbClr val="4FB3BF"/>
            </a:solidFill>
            <a:prstDash val="solid"/>
          </a:ln>
          <a:effectLst>
            <a:outerShdw sx="100000" sy="100000" kx="0" ky="0" algn="bl" rotWithShape="0" blurRad="101600" dist="25400" dir="5400000">
              <a:srgbClr val="AAAAAA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279014" y="2103120"/>
            <a:ext cx="163366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🧠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5324734" y="2514600"/>
            <a:ext cx="15422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Gate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(AI)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370454" y="2880360"/>
            <a:ext cx="1450787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MobileNet v1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TensorFlow.js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지시계 vs 일반 사물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141281" y="2788920"/>
            <a:ext cx="320040" cy="274320"/>
          </a:xfrm>
          <a:prstGeom prst="rightArrow">
            <a:avLst/>
          </a:prstGeom>
          <a:solidFill>
            <a:srgbClr val="4FB3BF"/>
          </a:solidFill>
          <a:ln w="12700">
            <a:solidFill>
              <a:srgbClr val="4FB3B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689921" y="2011680"/>
            <a:ext cx="1633667" cy="1828800"/>
          </a:xfrm>
          <a:prstGeom prst="roundRect">
            <a:avLst>
              <a:gd name="adj" fmla="val 6717"/>
            </a:avLst>
          </a:prstGeom>
          <a:solidFill>
            <a:srgbClr val="F2F7F9"/>
          </a:solidFill>
          <a:ln w="9525">
            <a:solidFill>
              <a:srgbClr val="CFDCE2"/>
            </a:solidFill>
            <a:prstDash val="solid"/>
          </a:ln>
          <a:effectLst>
            <a:outerShdw sx="100000" sy="100000" kx="0" ky="0" algn="bl" rotWithShape="0" blurRad="101600" dist="25400" dir="5400000">
              <a:srgbClr val="AAAAAA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689921" y="2103120"/>
            <a:ext cx="163366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🎨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7735641" y="2514600"/>
            <a:ext cx="15422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RGB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Sampling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781361" y="2880360"/>
            <a:ext cx="1450787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원형 ROI 샘플링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RGB · σ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HSV 채도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9552188" y="2788920"/>
            <a:ext cx="320040" cy="274320"/>
          </a:xfrm>
          <a:prstGeom prst="rightArrow">
            <a:avLst/>
          </a:prstGeom>
          <a:solidFill>
            <a:srgbClr val="4FB3BF"/>
          </a:solidFill>
          <a:ln w="12700">
            <a:solidFill>
              <a:srgbClr val="4FB3B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100828" y="2011680"/>
            <a:ext cx="1633667" cy="1828800"/>
          </a:xfrm>
          <a:prstGeom prst="roundRect">
            <a:avLst>
              <a:gd name="adj" fmla="val 6717"/>
            </a:avLst>
          </a:prstGeom>
          <a:solidFill>
            <a:srgbClr val="0E5C8A"/>
          </a:solidFill>
          <a:ln w="9525">
            <a:solidFill>
              <a:srgbClr val="CFDCE2"/>
            </a:solidFill>
            <a:prstDash val="solid"/>
          </a:ln>
          <a:effectLst>
            <a:outerShdw sx="100000" sy="100000" kx="0" ky="0" algn="bl" rotWithShape="0" blurRad="101600" dist="25400" dir="5400000">
              <a:srgbClr val="AAAAAA">
                <a:alpha val="3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10100828" y="2103120"/>
            <a:ext cx="163366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10146548" y="2514600"/>
            <a:ext cx="15422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Range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Classifier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0192268" y="2880360"/>
            <a:ext cx="1450787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B8E0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Fresh / Good /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B8E0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Expired / Unsupported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57200" y="1691640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spc="100" kern="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FRONTEND ONLY · 서버 추론 없음 · 인터넷 연결 없이도 정적 파일만 있으면 동작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57200" y="4297680"/>
            <a:ext cx="5486400" cy="2011680"/>
          </a:xfrm>
          <a:prstGeom prst="roundRect">
            <a:avLst>
              <a:gd name="adj" fmla="val 4545"/>
            </a:avLst>
          </a:prstGeom>
          <a:solidFill>
            <a:srgbClr val="DCEFE5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44348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 PoC 검증 완료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31520" y="48463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색상 분류 정확도 90%+ (정상 조명·정렬 기준)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31520" y="51663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AI 1차 게이트로 비-칩 객체 사전 필터링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31520" y="548640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실시간 진단 패널 + 자동 캡처 + 토치 보정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731520" y="58064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별도 설치 없이 URL만으로 사용자 테스트 가능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217920" y="4297680"/>
            <a:ext cx="5486400" cy="2011680"/>
          </a:xfrm>
          <a:prstGeom prst="roundRect">
            <a:avLst>
              <a:gd name="adj" fmla="val 4545"/>
            </a:avLst>
          </a:prstGeom>
          <a:solidFill>
            <a:srgbClr val="F7E8D0"/>
          </a:solidFill>
          <a:ln w="12700">
            <a:solidFill>
              <a:srgbClr val="C77E1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00800" y="44348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77E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△  Web 환경의 구조적 한계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492240" y="48463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모델 크기 5MB 이하 권장 → 정확도 상한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492240" y="51663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카메라 노출/플래시 제어 제한적 (브라우저 의존)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492240" y="548640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백그라운드 동작·푸시·위젯 불가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492240" y="58064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iOS Safari WebGL 호환성 이슈 잔존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E5C8A"/>
          </a:solidFill>
          <a:ln w="12700">
            <a:solidFill>
              <a:srgbClr val="0E5C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Lotusbio · TTI AI Scanner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991295" y="164592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INVESTOR DECK ·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/ 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502920"/>
            <a:ext cx="112772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2 — Native App 아키텍처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Android 우선 개발 → iOS 확대 · 100% 온디바이스 추론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548640" cy="54864"/>
          </a:xfrm>
          <a:prstGeom prst="rect">
            <a:avLst/>
          </a:prstGeom>
          <a:solidFill>
            <a:srgbClr val="4FB3BF"/>
          </a:solidFill>
          <a:ln w="12700">
            <a:solidFill>
              <a:srgbClr val="4FB3B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828800"/>
            <a:ext cx="1743395" cy="1554480"/>
          </a:xfrm>
          <a:prstGeom prst="roundRect">
            <a:avLst>
              <a:gd name="adj" fmla="val 7059"/>
            </a:avLst>
          </a:prstGeom>
          <a:solidFill>
            <a:srgbClr val="F2F7F9"/>
          </a:solidFill>
          <a:ln w="9525">
            <a:solidFill>
              <a:srgbClr val="CFDCE2"/>
            </a:solidFill>
            <a:prstDash val="solid"/>
          </a:ln>
          <a:effectLst>
            <a:outerShdw sx="100000" sy="100000" kx="0" ky="0" algn="bl" rotWithShape="0" blurRad="101600" dist="25400" dir="5400000">
              <a:srgbClr val="AAAAAA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7200" y="1920240"/>
            <a:ext cx="17433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📷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02920" y="2331720"/>
            <a:ext cx="16519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Camera2 /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AVFoundation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2697480"/>
            <a:ext cx="1560515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정밀 노출/포커스/RAW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383475" y="2468880"/>
            <a:ext cx="274320" cy="274320"/>
          </a:xfrm>
          <a:prstGeom prst="rightArrow">
            <a:avLst/>
          </a:prstGeom>
          <a:solidFill>
            <a:srgbClr val="4FB3BF"/>
          </a:solidFill>
          <a:ln w="12700">
            <a:solidFill>
              <a:srgbClr val="4FB3B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40675" y="1828800"/>
            <a:ext cx="1743395" cy="1554480"/>
          </a:xfrm>
          <a:prstGeom prst="roundRect">
            <a:avLst>
              <a:gd name="adj" fmla="val 7059"/>
            </a:avLst>
          </a:prstGeom>
          <a:solidFill>
            <a:srgbClr val="F2F7F9"/>
          </a:solidFill>
          <a:ln w="9525">
            <a:solidFill>
              <a:srgbClr val="CFDCE2"/>
            </a:solidFill>
            <a:prstDash val="solid"/>
          </a:ln>
          <a:effectLst>
            <a:outerShdw sx="100000" sy="100000" kx="0" ky="0" algn="bl" rotWithShape="0" blurRad="101600" dist="25400" dir="5400000">
              <a:srgbClr val="AAAAAA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2840675" y="1920240"/>
            <a:ext cx="17433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🛠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2886395" y="2331720"/>
            <a:ext cx="16519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Pre-process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932115" y="2697480"/>
            <a:ext cx="1560515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Perspective +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White Balance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(OpenCV mobile)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766950" y="2468880"/>
            <a:ext cx="274320" cy="274320"/>
          </a:xfrm>
          <a:prstGeom prst="rightArrow">
            <a:avLst/>
          </a:prstGeom>
          <a:solidFill>
            <a:srgbClr val="4FB3BF"/>
          </a:solidFill>
          <a:ln w="12700">
            <a:solidFill>
              <a:srgbClr val="4FB3B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224150" y="1828800"/>
            <a:ext cx="1743395" cy="1554480"/>
          </a:xfrm>
          <a:prstGeom prst="roundRect">
            <a:avLst>
              <a:gd name="adj" fmla="val 7059"/>
            </a:avLst>
          </a:prstGeom>
          <a:solidFill>
            <a:srgbClr val="B8E0E4"/>
          </a:solidFill>
          <a:ln w="9525">
            <a:solidFill>
              <a:srgbClr val="4FB3BF"/>
            </a:solidFill>
            <a:prstDash val="solid"/>
          </a:ln>
          <a:effectLst>
            <a:outerShdw sx="100000" sy="100000" kx="0" ky="0" algn="bl" rotWithShape="0" blurRad="101600" dist="25400" dir="5400000">
              <a:srgbClr val="AAAAAA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224150" y="1920240"/>
            <a:ext cx="17433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5269870" y="2331720"/>
            <a:ext cx="16519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Detection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315590" y="2697480"/>
            <a:ext cx="1560515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YOLOv10n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칩 위치·회전·크기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150425" y="2468880"/>
            <a:ext cx="274320" cy="274320"/>
          </a:xfrm>
          <a:prstGeom prst="rightArrow">
            <a:avLst/>
          </a:prstGeom>
          <a:solidFill>
            <a:srgbClr val="4FB3BF"/>
          </a:solidFill>
          <a:ln w="12700">
            <a:solidFill>
              <a:srgbClr val="4FB3B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607625" y="1828800"/>
            <a:ext cx="1743395" cy="1554480"/>
          </a:xfrm>
          <a:prstGeom prst="roundRect">
            <a:avLst>
              <a:gd name="adj" fmla="val 7059"/>
            </a:avLst>
          </a:prstGeom>
          <a:solidFill>
            <a:srgbClr val="B8E0E4"/>
          </a:solidFill>
          <a:ln w="9525">
            <a:solidFill>
              <a:srgbClr val="4FB3BF"/>
            </a:solidFill>
            <a:prstDash val="solid"/>
          </a:ln>
          <a:effectLst>
            <a:outerShdw sx="100000" sy="100000" kx="0" ky="0" algn="bl" rotWithShape="0" blurRad="101600" dist="25400" dir="5400000">
              <a:srgbClr val="AAAAAA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607625" y="1920240"/>
            <a:ext cx="17433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🧠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7653345" y="2331720"/>
            <a:ext cx="16519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Classification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699065" y="2697480"/>
            <a:ext cx="1560515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EfficientFormer-L1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int8 quantized 8MB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9533900" y="2468880"/>
            <a:ext cx="274320" cy="274320"/>
          </a:xfrm>
          <a:prstGeom prst="rightArrow">
            <a:avLst/>
          </a:prstGeom>
          <a:solidFill>
            <a:srgbClr val="4FB3BF"/>
          </a:solidFill>
          <a:ln w="12700">
            <a:solidFill>
              <a:srgbClr val="4FB3B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991100" y="1828800"/>
            <a:ext cx="1743395" cy="1554480"/>
          </a:xfrm>
          <a:prstGeom prst="roundRect">
            <a:avLst>
              <a:gd name="adj" fmla="val 7059"/>
            </a:avLst>
          </a:prstGeom>
          <a:solidFill>
            <a:srgbClr val="0E5C8A"/>
          </a:solidFill>
          <a:ln w="9525">
            <a:solidFill>
              <a:srgbClr val="CFDCE2"/>
            </a:solidFill>
            <a:prstDash val="solid"/>
          </a:ln>
          <a:effectLst>
            <a:outerShdw sx="100000" sy="100000" kx="0" ky="0" algn="bl" rotWithShape="0" blurRad="101600" dist="25400" dir="5400000">
              <a:srgbClr val="AAAAAA">
                <a:alpha val="3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9991100" y="1920240"/>
            <a:ext cx="17433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💾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10036820" y="2331720"/>
            <a:ext cx="16519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Result + Log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0082540" y="2697480"/>
            <a:ext cx="1560515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B8E0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신선도 0–10 score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B8E0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SQLite local cache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57200" y="3520440"/>
            <a:ext cx="11277295" cy="457200"/>
          </a:xfrm>
          <a:prstGeom prst="roundRect">
            <a:avLst>
              <a:gd name="adj" fmla="val 12000"/>
            </a:avLst>
          </a:prstGeom>
          <a:solidFill>
            <a:srgbClr val="FAFAFA"/>
          </a:solidFill>
          <a:ln w="9525">
            <a:solidFill>
              <a:srgbClr val="6B7785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640080" y="356616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Optional · 신뢰도 &lt; 0.7 일 때만 → Cloud Vision LLM Fallback (GPT-4V / Gemini Vision) — 신규 칩 제형 대응 + 데이터 수집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57200" y="4160520"/>
            <a:ext cx="112772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Native App이 필요한가 — Web 한계  vs  Native 강점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457200" y="4617720"/>
            <a:ext cx="5638648" cy="320040"/>
          </a:xfrm>
          <a:prstGeom prst="rect">
            <a:avLst/>
          </a:prstGeom>
          <a:solidFill>
            <a:srgbClr val="C77E1E"/>
          </a:solidFill>
          <a:ln w="12700">
            <a:solidFill>
              <a:srgbClr val="C77E1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4617720"/>
            <a:ext cx="5638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 데모의 한계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095848" y="4617720"/>
            <a:ext cx="5638648" cy="320040"/>
          </a:xfrm>
          <a:prstGeom prst="rect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095848" y="4617720"/>
            <a:ext cx="5638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Native App의 강점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4937760"/>
            <a:ext cx="5638648" cy="320040"/>
          </a:xfrm>
          <a:prstGeom prst="rect">
            <a:avLst/>
          </a:prstGeom>
          <a:solidFill>
            <a:srgbClr val="F2F7F9"/>
          </a:solidFill>
          <a:ln w="6350">
            <a:solidFill>
              <a:srgbClr val="CFDCE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0080" y="4937760"/>
            <a:ext cx="54557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오프라인 불가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095848" y="4937760"/>
            <a:ext cx="5638648" cy="320040"/>
          </a:xfrm>
          <a:prstGeom prst="rect">
            <a:avLst/>
          </a:prstGeom>
          <a:solidFill>
            <a:srgbClr val="DCEFE5"/>
          </a:solidFill>
          <a:ln w="6350">
            <a:solidFill>
              <a:srgbClr val="CFDCE2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78728" y="4937760"/>
            <a:ext cx="54557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7D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완전 오프라인 동작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457200" y="5257800"/>
            <a:ext cx="5638648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FDCE2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080" y="5257800"/>
            <a:ext cx="54557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제어 제한적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6095848" y="5257800"/>
            <a:ext cx="5638648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FDCE2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278728" y="5257800"/>
            <a:ext cx="54557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7D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Camera2 정밀 노출·플래시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457200" y="5577840"/>
            <a:ext cx="5638648" cy="320040"/>
          </a:xfrm>
          <a:prstGeom prst="rect">
            <a:avLst/>
          </a:prstGeom>
          <a:solidFill>
            <a:srgbClr val="F2F7F9"/>
          </a:solidFill>
          <a:ln w="6350">
            <a:solidFill>
              <a:srgbClr val="CFDCE2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0080" y="5577840"/>
            <a:ext cx="54557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크기 5MB 제약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6095848" y="5577840"/>
            <a:ext cx="5638648" cy="320040"/>
          </a:xfrm>
          <a:prstGeom prst="rect">
            <a:avLst/>
          </a:prstGeom>
          <a:solidFill>
            <a:srgbClr val="DCEFE5"/>
          </a:solidFill>
          <a:ln w="6350">
            <a:solidFill>
              <a:srgbClr val="CFDCE2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278728" y="5577840"/>
            <a:ext cx="54557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7D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50MB+ 고정밀 모델 탑재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457200" y="5897880"/>
            <a:ext cx="5638648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FDCE2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40080" y="5897880"/>
            <a:ext cx="54557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백그라운드 불가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6095848" y="5897880"/>
            <a:ext cx="5638648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FDCE2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278728" y="5897880"/>
            <a:ext cx="54557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7D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푸시 · 위젯 · 백그라운드 스캔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457200" y="6217920"/>
            <a:ext cx="5638648" cy="320040"/>
          </a:xfrm>
          <a:prstGeom prst="rect">
            <a:avLst/>
          </a:prstGeom>
          <a:solidFill>
            <a:srgbClr val="F2F7F9"/>
          </a:solidFill>
          <a:ln w="6350">
            <a:solidFill>
              <a:srgbClr val="CFDCE2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40080" y="6217920"/>
            <a:ext cx="54557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외부 전송 우려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6095848" y="6217920"/>
            <a:ext cx="5638648" cy="320040"/>
          </a:xfrm>
          <a:prstGeom prst="rect">
            <a:avLst/>
          </a:prstGeom>
          <a:solidFill>
            <a:srgbClr val="DCEFE5"/>
          </a:solidFill>
          <a:ln w="6350">
            <a:solidFill>
              <a:srgbClr val="CFDCE2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278728" y="6217920"/>
            <a:ext cx="54557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7D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온디바이스 = 프라이버시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457200" y="6537960"/>
            <a:ext cx="5638648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FDCE2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40080" y="6537960"/>
            <a:ext cx="54557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화면 UX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6095848" y="6537960"/>
            <a:ext cx="5638648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FDCE2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278728" y="6537960"/>
            <a:ext cx="54557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7D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이력 · 바코드 · 재고 연동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E5C8A"/>
          </a:solidFill>
          <a:ln w="12700">
            <a:solidFill>
              <a:srgbClr val="0E5C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Lotusbio · TTI AI Scanner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991295" y="164592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INVESTOR DECK ·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/ 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502920"/>
            <a:ext cx="112772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모델 — 현재 vs Phase 2 로드맵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ImageNet 사전학습 → TTI 전용 데이터셋 fine-tuning → 모바일 양자화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548640" cy="54864"/>
          </a:xfrm>
          <a:prstGeom prst="rect">
            <a:avLst/>
          </a:prstGeom>
          <a:solidFill>
            <a:srgbClr val="4FB3BF"/>
          </a:solidFill>
          <a:ln w="12700">
            <a:solidFill>
              <a:srgbClr val="4FB3B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828800"/>
            <a:ext cx="5532120" cy="3383280"/>
          </a:xfrm>
          <a:prstGeom prst="roundRect">
            <a:avLst>
              <a:gd name="adj" fmla="val 4054"/>
            </a:avLst>
          </a:prstGeom>
          <a:solidFill>
            <a:srgbClr val="F2F7F9"/>
          </a:solidFill>
          <a:ln w="12700">
            <a:solidFill>
              <a:srgbClr val="CFDCE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828800"/>
            <a:ext cx="5532120" cy="457200"/>
          </a:xfrm>
          <a:prstGeom prst="rect">
            <a:avLst/>
          </a:prstGeom>
          <a:solidFill>
            <a:srgbClr val="6B7785"/>
          </a:solidFill>
          <a:ln w="12700">
            <a:solidFill>
              <a:srgbClr val="6B778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74520"/>
            <a:ext cx="5166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1 — 현재 (Web PoC)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2377440"/>
            <a:ext cx="4983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RGB Range + MobileNet Gate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31520" y="288036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Backbone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011680" y="2880360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MobileNet v1 (TFJS, 16MB)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31520" y="3172968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사전학습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011680" y="317296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ImageNet only — TTI 학습 없음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31520" y="346557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분류 방식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011680" y="3465576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색상 RGB 임계값 룰 기반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31520" y="3758184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011680" y="3758184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3단계 분류 (Fresh/Good/Expired)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31520" y="4160520"/>
            <a:ext cx="4983480" cy="18288"/>
          </a:xfrm>
          <a:prstGeom prst="rect">
            <a:avLst/>
          </a:prstGeom>
          <a:solidFill>
            <a:srgbClr val="CFDCE2"/>
          </a:solidFill>
          <a:ln w="12700">
            <a:solidFill>
              <a:srgbClr val="CFDCE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4251960"/>
            <a:ext cx="4983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77E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△ 한계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1520" y="4572000"/>
            <a:ext cx="4983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× 조명 변화에 취약 (실내·형광·자연광 편차)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31520" y="4736592"/>
            <a:ext cx="4983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× 각도/원근/거리 보정 없음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31520" y="4901184"/>
            <a:ext cx="4983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× 신규 칩 제형 추가 시 룰 재작성 필요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31520" y="5065776"/>
            <a:ext cx="4983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× 3단계 분류만 가능 (연속값 불가)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202375" y="1828800"/>
            <a:ext cx="5532120" cy="3383280"/>
          </a:xfrm>
          <a:prstGeom prst="roundRect">
            <a:avLst>
              <a:gd name="adj" fmla="val 4054"/>
            </a:avLst>
          </a:prstGeom>
          <a:solidFill>
            <a:srgbClr val="E8F1F4"/>
          </a:solidFill>
          <a:ln w="19050">
            <a:solidFill>
              <a:srgbClr val="0E5C8A"/>
            </a:solidFill>
            <a:prstDash val="solid"/>
          </a:ln>
          <a:effectLst>
            <a:outerShdw sx="100000" sy="100000" kx="0" ky="0" algn="bl" rotWithShape="0" blurRad="152400" dist="38100" dir="5400000">
              <a:srgbClr val="0E5C8A">
                <a:alpha val="2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202375" y="1828800"/>
            <a:ext cx="5532120" cy="457200"/>
          </a:xfrm>
          <a:prstGeom prst="rect">
            <a:avLst/>
          </a:prstGeom>
          <a:solidFill>
            <a:srgbClr val="0E5C8A"/>
          </a:solidFill>
          <a:ln w="12700">
            <a:solidFill>
              <a:srgbClr val="0E5C8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85255" y="1874520"/>
            <a:ext cx="5166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2 — Native App (목표)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476695" y="2377440"/>
            <a:ext cx="4983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5C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전용 학습 CNN + Detection Pipeline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6476695" y="28803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Detection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939735" y="2880360"/>
            <a:ext cx="3611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YOLOv10n (5MB) — 칩 위치·회전·크기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476695" y="315468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Classification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939735" y="3154680"/>
            <a:ext cx="3611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EfficientFormer-L1 / MobileViT-S (8MB int8)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476695" y="342900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사전학습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7939735" y="3429000"/>
            <a:ext cx="3611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ImageNet → TTI 10K+ 자체 데이터셋 fine-tune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6476695" y="370332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939735" y="3703320"/>
            <a:ext cx="3611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OpenCV — Perspective + WB + Auto-exposure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476695" y="397764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939735" y="3977640"/>
            <a:ext cx="3611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신선도 0–10 연속 score (회귀)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476695" y="42519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Fallback (선택)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939735" y="4251960"/>
            <a:ext cx="3611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Cloud Vision LLM — 신규 케이스만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6476695" y="4572000"/>
            <a:ext cx="4983480" cy="18288"/>
          </a:xfrm>
          <a:prstGeom prst="rect">
            <a:avLst/>
          </a:prstGeom>
          <a:solidFill>
            <a:srgbClr val="CFDCE2"/>
          </a:solidFill>
          <a:ln w="12700">
            <a:solidFill>
              <a:srgbClr val="CFDCE2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476695" y="4709160"/>
            <a:ext cx="1188720" cy="320040"/>
          </a:xfrm>
          <a:prstGeom prst="roundRect">
            <a:avLst>
              <a:gd name="adj" fmla="val 48571"/>
            </a:avLst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76695" y="470916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 +15%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7756855" y="4709160"/>
            <a:ext cx="1188720" cy="320040"/>
          </a:xfrm>
          <a:prstGeom prst="roundRect">
            <a:avLst>
              <a:gd name="adj" fmla="val 48571"/>
            </a:avLst>
          </a:prstGeom>
          <a:solidFill>
            <a:srgbClr val="0E5C8A"/>
          </a:solidFill>
          <a:ln w="12700">
            <a:solidFill>
              <a:srgbClr val="0E5C8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756855" y="470916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오프라인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9037015" y="4709160"/>
            <a:ext cx="1188720" cy="320040"/>
          </a:xfrm>
          <a:prstGeom prst="roundRect">
            <a:avLst>
              <a:gd name="adj" fmla="val 48571"/>
            </a:avLst>
          </a:prstGeom>
          <a:solidFill>
            <a:srgbClr val="0E5C8A"/>
          </a:solidFill>
          <a:ln w="12700">
            <a:solidFill>
              <a:srgbClr val="0E5C8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037015" y="470916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프라이버시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10317175" y="4709160"/>
            <a:ext cx="1188720" cy="320040"/>
          </a:xfrm>
          <a:prstGeom prst="roundRect">
            <a:avLst>
              <a:gd name="adj" fmla="val 48571"/>
            </a:avLst>
          </a:prstGeom>
          <a:solidFill>
            <a:srgbClr val="4FB3BF"/>
          </a:solidFill>
          <a:ln w="12700">
            <a:solidFill>
              <a:srgbClr val="4FB3B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0317175" y="470916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신모델 확장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457200" y="5303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로드맵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1097280" y="5806440"/>
            <a:ext cx="9997135" cy="36576"/>
          </a:xfrm>
          <a:prstGeom prst="rect">
            <a:avLst/>
          </a:prstGeom>
          <a:solidFill>
            <a:srgbClr val="CFDCE2"/>
          </a:solidFill>
          <a:ln w="12700">
            <a:solidFill>
              <a:srgbClr val="CFDCE2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978408" y="5705856"/>
            <a:ext cx="237744" cy="237744"/>
          </a:xfrm>
          <a:prstGeom prst="ellipse">
            <a:avLst/>
          </a:prstGeom>
          <a:solidFill>
            <a:srgbClr val="4FB3B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57200" y="54406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B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 '26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182880" y="60350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TTI 데이터 수집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10K+ 라벨링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4310786" y="5705856"/>
            <a:ext cx="237744" cy="237744"/>
          </a:xfrm>
          <a:prstGeom prst="ellipse">
            <a:avLst/>
          </a:prstGeom>
          <a:solidFill>
            <a:srgbClr val="4FB3B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789578" y="54406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B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 '26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3515258" y="60350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학습 +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양자화 (int8)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7643165" y="5705856"/>
            <a:ext cx="237744" cy="237744"/>
          </a:xfrm>
          <a:prstGeom prst="ellipse">
            <a:avLst/>
          </a:prstGeom>
          <a:solidFill>
            <a:srgbClr val="0E5C8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121957" y="54406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5C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Q4 '26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6847637" y="60350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Android Beta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출시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10975543" y="5705856"/>
            <a:ext cx="237744" cy="237744"/>
          </a:xfrm>
          <a:prstGeom prst="ellipse">
            <a:avLst/>
          </a:prstGeom>
          <a:solidFill>
            <a:srgbClr val="0E5C8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0454335" y="54406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5C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 '27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10180015" y="60350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iOS 출시 +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B2B 파일럿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E5C8A"/>
          </a:solidFill>
          <a:ln w="12700">
            <a:solidFill>
              <a:srgbClr val="0E5C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Lotusbio · TTI AI Scanner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991295" y="164592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INVESTOR DECK ·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/ 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502920"/>
            <a:ext cx="112772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지속적인 투자가 필요한가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정확도의 핵심은 모델이 아니라 데이터 — 한 번 만들고 끝나는 사업이 아닙니다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548640" cy="54864"/>
          </a:xfrm>
          <a:prstGeom prst="rect">
            <a:avLst/>
          </a:prstGeom>
          <a:solidFill>
            <a:srgbClr val="4FB3BF"/>
          </a:solidFill>
          <a:ln w="12700">
            <a:solidFill>
              <a:srgbClr val="4FB3B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828800"/>
            <a:ext cx="5532120" cy="2331720"/>
          </a:xfrm>
          <a:prstGeom prst="roundRect">
            <a:avLst>
              <a:gd name="adj" fmla="val 5882"/>
            </a:avLst>
          </a:prstGeom>
          <a:solidFill>
            <a:srgbClr val="E8F1F4"/>
          </a:solidFill>
          <a:ln w="15240">
            <a:solidFill>
              <a:srgbClr val="0E5C8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828800"/>
            <a:ext cx="5532120" cy="457200"/>
          </a:xfrm>
          <a:prstGeom prst="rect">
            <a:avLst/>
          </a:prstGeom>
          <a:solidFill>
            <a:srgbClr val="0E5C8A"/>
          </a:solidFill>
          <a:ln w="12700">
            <a:solidFill>
              <a:srgbClr val="0E5C8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74520"/>
            <a:ext cx="5166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— 데이터셋 확보 (가장 큰 자본 집행)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2468880"/>
            <a:ext cx="156972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CFDCE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2560320"/>
            <a:ext cx="1569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5C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30,000+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85800" y="3063240"/>
            <a:ext cx="1569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라벨링 사진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31520" y="3337560"/>
            <a:ext cx="1478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조명·각도·배경·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포장재·부분 변색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346960" y="2468880"/>
            <a:ext cx="156972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CFDCE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346960" y="2560320"/>
            <a:ext cx="1569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5C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개월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2346960" y="3063240"/>
            <a:ext cx="1569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수집·라벨링 기간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92680" y="3337560"/>
            <a:ext cx="1478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전문 라벨러 +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식품공학 검수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008120" y="2468880"/>
            <a:ext cx="156972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CFDCE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008120" y="2560320"/>
            <a:ext cx="1569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5C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₩4 억+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008120" y="3063240"/>
            <a:ext cx="1569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추정 데이터 비용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053840" y="3337560"/>
            <a:ext cx="1478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라벨링 외주 +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촬영 + 검수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02375" y="1828800"/>
            <a:ext cx="5532120" cy="2331720"/>
          </a:xfrm>
          <a:prstGeom prst="roundRect">
            <a:avLst>
              <a:gd name="adj" fmla="val 5882"/>
            </a:avLst>
          </a:prstGeom>
          <a:solidFill>
            <a:srgbClr val="DCEFE5"/>
          </a:solidFill>
          <a:ln w="15240">
            <a:solidFill>
              <a:srgbClr val="2E7D5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02375" y="1828800"/>
            <a:ext cx="5532120" cy="457200"/>
          </a:xfrm>
          <a:prstGeom prst="rect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85255" y="1874520"/>
            <a:ext cx="5166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 — Active Learning 사이클 (지속 운영비)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556955" y="2834640"/>
            <a:ext cx="822960" cy="548640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11235" y="2852928"/>
            <a:ext cx="914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REPEAT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 분기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8584387" y="2057400"/>
            <a:ext cx="768096" cy="502920"/>
          </a:xfrm>
          <a:prstGeom prst="ellipse">
            <a:avLst/>
          </a:prstGeom>
          <a:solidFill>
            <a:srgbClr val="4FB3B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65515" y="2039112"/>
            <a:ext cx="100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촬영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9361627" y="2834640"/>
            <a:ext cx="768096" cy="502920"/>
          </a:xfrm>
          <a:prstGeom prst="ellipse">
            <a:avLst/>
          </a:prstGeom>
          <a:solidFill>
            <a:srgbClr val="C77E1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242755" y="2816352"/>
            <a:ext cx="100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낮은 신뢰도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샘플 추출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8584387" y="3611880"/>
            <a:ext cx="768096" cy="502920"/>
          </a:xfrm>
          <a:prstGeom prst="ellipse">
            <a:avLst/>
          </a:prstGeom>
          <a:solidFill>
            <a:srgbClr val="0E5C8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465515" y="3593592"/>
            <a:ext cx="100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재라벨링 +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재학습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7807147" y="2834640"/>
            <a:ext cx="768096" cy="502920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688275" y="2816352"/>
            <a:ext cx="100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신모델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OTA 배포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6385255" y="3794760"/>
            <a:ext cx="5166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7D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비용 — 분기당 ₩6,000만+ (재라벨링 + 컴퓨팅 + 모델 배포)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4434840"/>
            <a:ext cx="11277295" cy="1828800"/>
          </a:xfrm>
          <a:prstGeom prst="roundRect">
            <a:avLst>
              <a:gd name="adj" fmla="val 7500"/>
            </a:avLst>
          </a:prstGeom>
          <a:solidFill>
            <a:srgbClr val="F7E8D0"/>
          </a:solidFill>
          <a:ln w="15240">
            <a:solidFill>
              <a:srgbClr val="C77E1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7200" y="4434840"/>
            <a:ext cx="11277295" cy="457200"/>
          </a:xfrm>
          <a:prstGeom prst="rect">
            <a:avLst/>
          </a:prstGeom>
          <a:solidFill>
            <a:srgbClr val="C77E1E"/>
          </a:solidFill>
          <a:ln w="12700">
            <a:solidFill>
              <a:srgbClr val="C77E1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0080" y="448056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 — 정확도 100%는 물리적으로 불가능합니다 (현실적 기대치 공유)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40080" y="4983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절대 통제할 수 없는 5가지 변수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777240" y="5303520"/>
            <a:ext cx="5303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📷  카메라 센서 편차 (기종마다 색감 다름)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77240" y="5468112"/>
            <a:ext cx="5303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 조명 환경 (LED·형광등·자연광·그늘)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77240" y="5632704"/>
            <a:ext cx="5303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📦  포장재 반사·결로·비닐 광택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777240" y="5797296"/>
            <a:ext cx="5303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🧪  칩 자체의 제조 편차 · 온도 이력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777240" y="5961888"/>
            <a:ext cx="5303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👆  사용자 촬영 각도 · 손가락 가림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6400800" y="498348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실현 가능한 목표 정확도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400800" y="5303520"/>
            <a:ext cx="246888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C77E1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46520" y="534924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77E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≥ 95%</a:t>
            </a:r>
            <a:endParaRPr lang="en-US" sz="1800" dirty="0"/>
          </a:p>
        </p:txBody>
      </p:sp>
      <p:sp>
        <p:nvSpPr>
          <p:cNvPr id="50" name="Text 48"/>
          <p:cNvSpPr/>
          <p:nvPr/>
        </p:nvSpPr>
        <p:spPr>
          <a:xfrm>
            <a:off x="7315200" y="534924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Beta 출시 시점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9052560" y="5303520"/>
            <a:ext cx="246888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D5B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098280" y="534924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7D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≥ 98%</a:t>
            </a:r>
            <a:endParaRPr lang="en-US" sz="1800" dirty="0"/>
          </a:p>
        </p:txBody>
      </p:sp>
      <p:sp>
        <p:nvSpPr>
          <p:cNvPr id="53" name="Text 51"/>
          <p:cNvSpPr/>
          <p:nvPr/>
        </p:nvSpPr>
        <p:spPr>
          <a:xfrm>
            <a:off x="9966960" y="534924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1년 운영 후 (Active Learning)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6400800" y="5916168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100% 보장형 의료/안전 인증 도구가 아닌 "보조 판정 도구"로 포지셔닝 — 식약처 식품 보조표시 가이드라인 준용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E5C8A"/>
          </a:solidFill>
          <a:ln w="12700">
            <a:solidFill>
              <a:srgbClr val="0E5C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Lotusbio · TTI AI Scanner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991295" y="164592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INVESTOR DECK ·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/ 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502920"/>
            <a:ext cx="112772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용어 · 약어 설명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자료에 사용된 주요 기술 용어 정리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548640" cy="54864"/>
          </a:xfrm>
          <a:prstGeom prst="rect">
            <a:avLst/>
          </a:prstGeom>
          <a:solidFill>
            <a:srgbClr val="4FB3BF"/>
          </a:solidFill>
          <a:ln w="12700">
            <a:solidFill>
              <a:srgbClr val="4FB3B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691640"/>
            <a:ext cx="5501488" cy="2217420"/>
          </a:xfrm>
          <a:prstGeom prst="roundRect">
            <a:avLst>
              <a:gd name="adj" fmla="val 4124"/>
            </a:avLst>
          </a:prstGeom>
          <a:solidFill>
            <a:srgbClr val="FFFFFF"/>
          </a:solidFill>
          <a:ln w="9525">
            <a:solidFill>
              <a:srgbClr val="CFDCE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691640"/>
            <a:ext cx="109728" cy="2217420"/>
          </a:xfrm>
          <a:prstGeom prst="rect">
            <a:avLst/>
          </a:prstGeom>
          <a:solidFill>
            <a:srgbClr val="0E5C8A"/>
          </a:solidFill>
          <a:ln w="12700">
            <a:solidFill>
              <a:srgbClr val="0E5C8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828800"/>
            <a:ext cx="513572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E5C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· Model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2194560"/>
            <a:ext cx="2377440" cy="2971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154680" y="2194560"/>
            <a:ext cx="2666848" cy="2971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Convolutional Neural Network — 이미지 인식의 표준 신경망 구조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31520" y="2510028"/>
            <a:ext cx="2377440" cy="2971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YOLO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154680" y="2510028"/>
            <a:ext cx="2666848" cy="2971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You Only Look Once — 실시간 객체 검출 모델 (위치·크기 한 번에 예측)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1520" y="2825496"/>
            <a:ext cx="2377440" cy="2971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ResNet / EfficientFormer / MobileViT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154680" y="2825496"/>
            <a:ext cx="2666848" cy="2971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 분류용 딥러닝 백본 모델 (점점 가볍고 정확해진 세대별 진화)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1520" y="3140964"/>
            <a:ext cx="2377440" cy="2971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MobileNet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154680" y="3140964"/>
            <a:ext cx="2666848" cy="2971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Google이 만든 모바일용 경량 CNN, 16MB 수준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31520" y="3456432"/>
            <a:ext cx="2377440" cy="2971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154680" y="3456432"/>
            <a:ext cx="2666848" cy="2971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Large Language Model — GPT-4V, Gemini 등 대형 멀티모달 모델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233008" y="1691640"/>
            <a:ext cx="5501488" cy="2217420"/>
          </a:xfrm>
          <a:prstGeom prst="roundRect">
            <a:avLst>
              <a:gd name="adj" fmla="val 4124"/>
            </a:avLst>
          </a:prstGeom>
          <a:solidFill>
            <a:srgbClr val="FFFFFF"/>
          </a:solidFill>
          <a:ln w="9525">
            <a:solidFill>
              <a:srgbClr val="CFDCE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33008" y="1691640"/>
            <a:ext cx="109728" cy="2217420"/>
          </a:xfrm>
          <a:prstGeom prst="rect">
            <a:avLst/>
          </a:prstGeom>
          <a:solidFill>
            <a:srgbClr val="4FB3BF"/>
          </a:solidFill>
          <a:ln w="12700">
            <a:solidFill>
              <a:srgbClr val="4FB3B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07328" y="1828800"/>
            <a:ext cx="513572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4FB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Training · Deployment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07328" y="2194560"/>
            <a:ext cx="2377440" cy="2971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ImageNet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930488" y="2194560"/>
            <a:ext cx="2666848" cy="2971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1,400만 장 사진 데이터셋 — 대부분의 비전 모델 사전학습 표준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507328" y="2510028"/>
            <a:ext cx="2377440" cy="2971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Fine-tuning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930488" y="2510028"/>
            <a:ext cx="2666848" cy="2971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사전학습 모델을 자사 데이터로 추가 학습하여 도메인에 적응시키는 기법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507328" y="2825496"/>
            <a:ext cx="2377440" cy="2971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Quantization (int8)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930488" y="2825496"/>
            <a:ext cx="2666848" cy="2971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32-bit 모델을 8-bit로 압축 → 모델 크기 1/4, 속도 2~4배 향상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507328" y="3140964"/>
            <a:ext cx="2377440" cy="2971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Active Learning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930488" y="3140964"/>
            <a:ext cx="2666848" cy="2971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데이터에서 어려운 샘플만 골라 재학습하는 효율적 학습 사이클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507328" y="3456432"/>
            <a:ext cx="2377440" cy="2971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OTA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930488" y="3456432"/>
            <a:ext cx="2666848" cy="2971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Over-the-Air — 앱 업데이트 없이 모델 파일만 무선 배포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4091940"/>
            <a:ext cx="5501488" cy="2217420"/>
          </a:xfrm>
          <a:prstGeom prst="roundRect">
            <a:avLst>
              <a:gd name="adj" fmla="val 4124"/>
            </a:avLst>
          </a:prstGeom>
          <a:solidFill>
            <a:srgbClr val="FFFFFF"/>
          </a:solidFill>
          <a:ln w="9525">
            <a:solidFill>
              <a:srgbClr val="CFDCE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7200" y="4091940"/>
            <a:ext cx="109728" cy="2217420"/>
          </a:xfrm>
          <a:prstGeom prst="rect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1520" y="4229100"/>
            <a:ext cx="513572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E7D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Vision · Camera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731520" y="4594860"/>
            <a:ext cx="2377440" cy="2971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TTI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3154680" y="4594860"/>
            <a:ext cx="2666848" cy="2971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Time-Temperature Indicator — 온도·시간에 따라 색이 변하는 식품 신선도 칩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31520" y="4910328"/>
            <a:ext cx="2377440" cy="2971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ROI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154680" y="4910328"/>
            <a:ext cx="2666848" cy="2971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Region of Interest — 분석 대상 영역 (앱의 점선 원 안쪽)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31520" y="5225796"/>
            <a:ext cx="2377440" cy="2971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WB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3154680" y="5225796"/>
            <a:ext cx="2666848" cy="2971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White Balance — 광원에 따라 달라지는 색감을 보정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731520" y="5541264"/>
            <a:ext cx="2377440" cy="2971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Perspective Correction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3154680" y="5541264"/>
            <a:ext cx="2666848" cy="2971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비스듬히 찍힌 칩을 정원으로 펴는 원근 보정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731520" y="5856732"/>
            <a:ext cx="2377440" cy="2971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OpenCV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3154680" y="5856732"/>
            <a:ext cx="2666848" cy="2971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오픈소스 컴퓨터비전 라이브러리 — 모바일 영상 전처리 표준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233008" y="4091940"/>
            <a:ext cx="5501488" cy="2217420"/>
          </a:xfrm>
          <a:prstGeom prst="roundRect">
            <a:avLst>
              <a:gd name="adj" fmla="val 4124"/>
            </a:avLst>
          </a:prstGeom>
          <a:solidFill>
            <a:srgbClr val="FFFFFF"/>
          </a:solidFill>
          <a:ln w="9525">
            <a:solidFill>
              <a:srgbClr val="CFDCE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233008" y="4091940"/>
            <a:ext cx="109728" cy="2217420"/>
          </a:xfrm>
          <a:prstGeom prst="rect">
            <a:avLst/>
          </a:prstGeom>
          <a:solidFill>
            <a:srgbClr val="C77E1E"/>
          </a:solidFill>
          <a:ln w="12700">
            <a:solidFill>
              <a:srgbClr val="C77E1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507328" y="4229100"/>
            <a:ext cx="513572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77E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Platform · App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6507328" y="4594860"/>
            <a:ext cx="2377440" cy="2971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PoC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8930488" y="4594860"/>
            <a:ext cx="2666848" cy="2971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Proof of Concept — 기술 개념 검증용 시제품 (현재 데모)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6507328" y="4910328"/>
            <a:ext cx="2377440" cy="2971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PWA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930488" y="4910328"/>
            <a:ext cx="2666848" cy="2971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Progressive Web App — 설치 가능한 웹 기반 앱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6507328" y="5225796"/>
            <a:ext cx="2377440" cy="2971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TFJS / TFLite / Core ML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8930488" y="5225796"/>
            <a:ext cx="2666848" cy="2971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TensorFlow.js (브라우저) / TensorFlow Lite (Android) / Core ML (iOS) 추론 엔진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6507328" y="5541264"/>
            <a:ext cx="2377440" cy="2971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Camera2 / AVFoundation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8930488" y="5541264"/>
            <a:ext cx="2666848" cy="2971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Android · iOS의 카메라 정밀 제어 공식 API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6507328" y="5856732"/>
            <a:ext cx="2377440" cy="2971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SDK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8930488" y="5856732"/>
            <a:ext cx="2666848" cy="2971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Software Development Kit — 외부 개발자가 쓸 수 있게 만든 기능 묶음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Lotusbio TTI AI 품질 스캐너 — 투자자 자료</dc:title>
  <dc:subject>PptxGenJS Presentation</dc:subject>
  <dc:creator>Lotusbio</dc:creator>
  <cp:lastModifiedBy>Lotusbio</cp:lastModifiedBy>
  <cp:revision>1</cp:revision>
  <dcterms:created xsi:type="dcterms:W3CDTF">2026-04-21T02:38:08Z</dcterms:created>
  <dcterms:modified xsi:type="dcterms:W3CDTF">2026-04-21T02:38:08Z</dcterms:modified>
</cp:coreProperties>
</file>