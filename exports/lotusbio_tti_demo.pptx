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137160" cy="6858000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8E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INVESTOR DECK ·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TTI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스캐너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E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카메라로 식품 신선도를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E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안에 판별합니다.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548640" cy="36576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Lotusbio Inc.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www.lotusbio.co.kr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Time-Temperature Indicator × On-device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색이 변하는 칩, 카메라가 읽는 신선도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66360" y="2450592"/>
            <a:ext cx="1463040" cy="1463040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2377440"/>
            <a:ext cx="1463040" cy="1463040"/>
          </a:xfrm>
          <a:prstGeom prst="ellipse">
            <a:avLst/>
          </a:prstGeom>
          <a:solidFill>
            <a:srgbClr val="E5E7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3977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4297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0–3 days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6600" y="2450592"/>
            <a:ext cx="1463040" cy="1463040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2377440"/>
            <a:ext cx="1463040" cy="1463040"/>
          </a:xfrm>
          <a:prstGeom prst="ellipse">
            <a:avLst/>
          </a:prstGeom>
          <a:solidFill>
            <a:srgbClr val="5E9CB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977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4297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7E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3–7 days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06840" y="2450592"/>
            <a:ext cx="1463040" cy="1463040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2377440"/>
            <a:ext cx="1463040" cy="1463040"/>
          </a:xfrm>
          <a:prstGeom prst="ellipse">
            <a:avLst/>
          </a:prstGeom>
          <a:solidFill>
            <a:srgbClr val="2A698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3977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0" y="4297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7+ days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475488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F2F7F9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4846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37760" y="5212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5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&lt;1s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937760" y="5669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속도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60920" y="475488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F2F7F9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4846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60920" y="5212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5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360920" y="5669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추론 비용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84080" y="475488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F2F7F9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0" y="4846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784080" y="5212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5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784080" y="5669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 처리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Lotusbio · TTI AI Scanner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991295" y="1645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데모 — Web 기반 PoC 아키텍처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시장 검증을 위한 브라우저 단일 페이지(SPA) 구조 · 현재 동작 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1633667" cy="1828800"/>
          </a:xfrm>
          <a:prstGeom prst="roundRect">
            <a:avLst>
              <a:gd name="adj" fmla="val 6717"/>
            </a:avLst>
          </a:prstGeom>
          <a:solidFill>
            <a:srgbClr val="F2F7F9"/>
          </a:solidFill>
          <a:ln w="9525">
            <a:solidFill>
              <a:srgbClr val="CF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03120"/>
            <a:ext cx="163366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15422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Browser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4507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· iOS / Android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+ Vite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19467" y="2788920"/>
            <a:ext cx="320040" cy="274320"/>
          </a:xfrm>
          <a:prstGeom prst="rightArrow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68107" y="2011680"/>
            <a:ext cx="1633667" cy="1828800"/>
          </a:xfrm>
          <a:prstGeom prst="roundRect">
            <a:avLst>
              <a:gd name="adj" fmla="val 6717"/>
            </a:avLst>
          </a:prstGeom>
          <a:solidFill>
            <a:srgbClr val="F2F7F9"/>
          </a:solidFill>
          <a:ln w="9525">
            <a:solidFill>
              <a:srgbClr val="CF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68107" y="2103120"/>
            <a:ext cx="163366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13827" y="2514600"/>
            <a:ext cx="15422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Camera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59547" y="2880360"/>
            <a:ext cx="14507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getUserMedia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MediaStream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Torch / Exposure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30374" y="2788920"/>
            <a:ext cx="320040" cy="274320"/>
          </a:xfrm>
          <a:prstGeom prst="rightArrow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9014" y="2011680"/>
            <a:ext cx="1633667" cy="1828800"/>
          </a:xfrm>
          <a:prstGeom prst="roundRect">
            <a:avLst>
              <a:gd name="adj" fmla="val 6717"/>
            </a:avLst>
          </a:prstGeom>
          <a:solidFill>
            <a:srgbClr val="B8E0E4"/>
          </a:solidFill>
          <a:ln w="9525">
            <a:solidFill>
              <a:srgbClr val="4FB3BF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79014" y="2103120"/>
            <a:ext cx="163366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24734" y="2514600"/>
            <a:ext cx="15422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Gate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0454" y="2880360"/>
            <a:ext cx="14507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MobileNet v1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TensorFlow.js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지시계 vs 일반 사물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41281" y="2788920"/>
            <a:ext cx="320040" cy="274320"/>
          </a:xfrm>
          <a:prstGeom prst="rightArrow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9921" y="2011680"/>
            <a:ext cx="1633667" cy="1828800"/>
          </a:xfrm>
          <a:prstGeom prst="roundRect">
            <a:avLst>
              <a:gd name="adj" fmla="val 6717"/>
            </a:avLst>
          </a:prstGeom>
          <a:solidFill>
            <a:srgbClr val="F2F7F9"/>
          </a:solidFill>
          <a:ln w="9525">
            <a:solidFill>
              <a:srgbClr val="CF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9921" y="2103120"/>
            <a:ext cx="163366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35641" y="2514600"/>
            <a:ext cx="15422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81361" y="2880360"/>
            <a:ext cx="14507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원형 ROI 샘플링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RGB · σ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HSV 채도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552188" y="2788920"/>
            <a:ext cx="320040" cy="274320"/>
          </a:xfrm>
          <a:prstGeom prst="rightArrow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00828" y="2011680"/>
            <a:ext cx="1633667" cy="1828800"/>
          </a:xfrm>
          <a:prstGeom prst="roundRect">
            <a:avLst>
              <a:gd name="adj" fmla="val 6717"/>
            </a:avLst>
          </a:prstGeom>
          <a:solidFill>
            <a:srgbClr val="0E5C8A"/>
          </a:solidFill>
          <a:ln w="9525">
            <a:solidFill>
              <a:srgbClr val="CF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100828" y="2103120"/>
            <a:ext cx="163366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146548" y="2514600"/>
            <a:ext cx="15422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92268" y="2880360"/>
            <a:ext cx="1450787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E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Fresh / Good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E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/ Unsupported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spc="100" kern="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ONLY · 서버 추론 없음 · 인터넷 연결 없이도 정적 파일만 있으면 동작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DCEFE5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PoC 검증 완료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4846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색상 분류 정확도 90%+ (정상 조명·정렬 기준)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5166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1차 게이트로 비-칩 객체 사전 필터링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실시간 진단 패널 + 자동 캡처 + 토치 보정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5806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별도 설치 없이 URL만으로 사용자 테스트 가능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42976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7E8D0"/>
          </a:solidFill>
          <a:ln w="12700">
            <a:solidFill>
              <a:srgbClr val="C77E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E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  Web 환경의 구조적 한계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92240" y="4846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모델 크기 5MB 이하 권장 → 정확도 상한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5166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카메라 노출/플래시 제어 제한적 (브라우저 의존)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백그라운드 동작·푸시·위젯 불가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5806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iOS Safari WebGL 호환성 이슈 잔존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Lotusbio · TTI AI Scanner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991295" y="1645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— Native App 아키텍처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우선 개발 → iOS 확대 · 100% 온디바이스 추론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1743395" cy="1554480"/>
          </a:xfrm>
          <a:prstGeom prst="roundRect">
            <a:avLst>
              <a:gd name="adj" fmla="val 7059"/>
            </a:avLst>
          </a:prstGeom>
          <a:solidFill>
            <a:srgbClr val="F2F7F9"/>
          </a:solidFill>
          <a:ln w="9525">
            <a:solidFill>
              <a:srgbClr val="CF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920240"/>
            <a:ext cx="1743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1651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Camera2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AVFoundation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15605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노출/포커스/RAW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83475" y="2468880"/>
            <a:ext cx="274320" cy="274320"/>
          </a:xfrm>
          <a:prstGeom prst="rightArrow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40675" y="1828800"/>
            <a:ext cx="1743395" cy="1554480"/>
          </a:xfrm>
          <a:prstGeom prst="roundRect">
            <a:avLst>
              <a:gd name="adj" fmla="val 7059"/>
            </a:avLst>
          </a:prstGeom>
          <a:solidFill>
            <a:srgbClr val="F2F7F9"/>
          </a:solidFill>
          <a:ln w="9525">
            <a:solidFill>
              <a:srgbClr val="CF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40675" y="1920240"/>
            <a:ext cx="1743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86395" y="2331720"/>
            <a:ext cx="1651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Pre-process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32115" y="2697480"/>
            <a:ext cx="15605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Perspective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White Balance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(OpenCV mobile)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66950" y="2468880"/>
            <a:ext cx="274320" cy="274320"/>
          </a:xfrm>
          <a:prstGeom prst="rightArrow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24150" y="1828800"/>
            <a:ext cx="1743395" cy="1554480"/>
          </a:xfrm>
          <a:prstGeom prst="roundRect">
            <a:avLst>
              <a:gd name="adj" fmla="val 7059"/>
            </a:avLst>
          </a:prstGeom>
          <a:solidFill>
            <a:srgbClr val="B8E0E4"/>
          </a:solidFill>
          <a:ln w="9525">
            <a:solidFill>
              <a:srgbClr val="4FB3BF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24150" y="1920240"/>
            <a:ext cx="1743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69870" y="2331720"/>
            <a:ext cx="1651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15590" y="2697480"/>
            <a:ext cx="15605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YOLOv10n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 위치·회전·크기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50425" y="2468880"/>
            <a:ext cx="274320" cy="274320"/>
          </a:xfrm>
          <a:prstGeom prst="rightArrow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625" y="1828800"/>
            <a:ext cx="1743395" cy="1554480"/>
          </a:xfrm>
          <a:prstGeom prst="roundRect">
            <a:avLst>
              <a:gd name="adj" fmla="val 7059"/>
            </a:avLst>
          </a:prstGeom>
          <a:solidFill>
            <a:srgbClr val="B8E0E4"/>
          </a:solidFill>
          <a:ln w="9525">
            <a:solidFill>
              <a:srgbClr val="4FB3BF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07625" y="1920240"/>
            <a:ext cx="1743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53345" y="2331720"/>
            <a:ext cx="1651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99065" y="2697480"/>
            <a:ext cx="15605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EfficientFormer-L1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int8 quantized 8MB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533900" y="2468880"/>
            <a:ext cx="274320" cy="274320"/>
          </a:xfrm>
          <a:prstGeom prst="rightArrow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91100" y="1828800"/>
            <a:ext cx="1743395" cy="1554480"/>
          </a:xfrm>
          <a:prstGeom prst="roundRect">
            <a:avLst>
              <a:gd name="adj" fmla="val 7059"/>
            </a:avLst>
          </a:prstGeom>
          <a:solidFill>
            <a:srgbClr val="0E5C8A"/>
          </a:solidFill>
          <a:ln w="9525">
            <a:solidFill>
              <a:srgbClr val="CF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AAAAAA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991100" y="1920240"/>
            <a:ext cx="1743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036820" y="2331720"/>
            <a:ext cx="1651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 + Log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82540" y="2697480"/>
            <a:ext cx="15605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E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신선도 0–10 score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E0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 local cache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52044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9525">
            <a:solidFill>
              <a:srgbClr val="6B7785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40080" y="3566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Optional · 신뢰도 &lt; 0.7 일 때만 → Cloud Vision LLM Fallback (GPT-4V / Gemini Vision) — 신규 칩 제형 대응 + 데이터 수집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1605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Native App이 필요한가 — Web 한계  vs  Native 강점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4617720"/>
            <a:ext cx="5638648" cy="320040"/>
          </a:xfrm>
          <a:prstGeom prst="rect">
            <a:avLst/>
          </a:prstGeom>
          <a:solidFill>
            <a:srgbClr val="C77E1E"/>
          </a:solidFill>
          <a:ln w="12700">
            <a:solidFill>
              <a:srgbClr val="C77E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17720"/>
            <a:ext cx="5638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데모의 한계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95848" y="4617720"/>
            <a:ext cx="5638648" cy="32004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95848" y="4617720"/>
            <a:ext cx="5638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App의 강점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937760"/>
            <a:ext cx="5638648" cy="320040"/>
          </a:xfrm>
          <a:prstGeom prst="rect">
            <a:avLst/>
          </a:prstGeom>
          <a:solidFill>
            <a:srgbClr val="F2F7F9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93776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불가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95848" y="4937760"/>
            <a:ext cx="5638648" cy="320040"/>
          </a:xfrm>
          <a:prstGeom prst="rect">
            <a:avLst/>
          </a:prstGeom>
          <a:solidFill>
            <a:srgbClr val="DCEFE5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8728" y="493776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완전 오프라인 동작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5257800"/>
            <a:ext cx="56386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25780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제어 제한적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95848" y="5257800"/>
            <a:ext cx="56386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8728" y="525780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Camera2 정밀 노출·플래시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" y="5577840"/>
            <a:ext cx="5638648" cy="320040"/>
          </a:xfrm>
          <a:prstGeom prst="rect">
            <a:avLst/>
          </a:prstGeom>
          <a:solidFill>
            <a:srgbClr val="F2F7F9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57784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크기 5MB 제약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095848" y="5577840"/>
            <a:ext cx="5638648" cy="320040"/>
          </a:xfrm>
          <a:prstGeom prst="rect">
            <a:avLst/>
          </a:prstGeom>
          <a:solidFill>
            <a:srgbClr val="DCEFE5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78728" y="557784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50MB+ 고정밀 모델 탑재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5897880"/>
            <a:ext cx="56386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89788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불가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095848" y="5897880"/>
            <a:ext cx="56386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78728" y="589788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푸시 · 위젯 · 백그라운드 스캔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6217920"/>
            <a:ext cx="5638648" cy="320040"/>
          </a:xfrm>
          <a:prstGeom prst="rect">
            <a:avLst/>
          </a:prstGeom>
          <a:solidFill>
            <a:srgbClr val="F2F7F9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621792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외부 전송 우려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095848" y="6217920"/>
            <a:ext cx="5638648" cy="320040"/>
          </a:xfrm>
          <a:prstGeom prst="rect">
            <a:avLst/>
          </a:prstGeom>
          <a:solidFill>
            <a:srgbClr val="DCEFE5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78728" y="621792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온디바이스 = 프라이버시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7200" y="6537960"/>
            <a:ext cx="56386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653796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화면 UX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095848" y="6537960"/>
            <a:ext cx="563864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C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78728" y="6537960"/>
            <a:ext cx="5455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이력 · 바코드 · 재고 연동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Lotusbio · TTI AI Scanner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991295" y="1645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INVESTOR DECK ·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 — 현재 vs Phase 2 로드맵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ImageNet 사전학습 → TTI 전용 데이터셋 fine-tuning → 모바일 양자화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532120" cy="3383280"/>
          </a:xfrm>
          <a:prstGeom prst="roundRect">
            <a:avLst>
              <a:gd name="adj" fmla="val 4054"/>
            </a:avLst>
          </a:prstGeom>
          <a:solidFill>
            <a:srgbClr val="F2F7F9"/>
          </a:solidFill>
          <a:ln w="12700">
            <a:solidFill>
              <a:srgbClr val="CF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532120" cy="457200"/>
          </a:xfrm>
          <a:prstGeom prst="rect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745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— 현재 (Web PoC)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Range + MobileNet Gate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Backbone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8803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MobileNet v1 (TFJS, 16MB)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172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17296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ImageNet only — TTI 학습 없음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46557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방식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4655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RGB 임계값 룰 기반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7581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75818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분류 (Fresh/Good/Expired)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4983480" cy="18288"/>
          </a:xfrm>
          <a:prstGeom prst="rect">
            <a:avLst/>
          </a:prstGeom>
          <a:solidFill>
            <a:srgbClr val="CFDCE2"/>
          </a:solidFill>
          <a:ln w="12700">
            <a:solidFill>
              <a:srgbClr val="CFDC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5196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E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 한계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4983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조명 변화에 취약 (실내·형광·자연광 편차)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4736592"/>
            <a:ext cx="4983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각도/원근/거리 보정 없음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4901184"/>
            <a:ext cx="4983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신규 칩 제형 추가 시 룰 재작성 필요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65776"/>
            <a:ext cx="4983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3단계 분류만 가능 (연속값 불가)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02375" y="1828800"/>
            <a:ext cx="5532120" cy="3383280"/>
          </a:xfrm>
          <a:prstGeom prst="roundRect">
            <a:avLst>
              <a:gd name="adj" fmla="val 4054"/>
            </a:avLst>
          </a:prstGeom>
          <a:solidFill>
            <a:srgbClr val="E8F1F4"/>
          </a:solidFill>
          <a:ln w="19050">
            <a:solidFill>
              <a:srgbClr val="0E5C8A"/>
            </a:solidFill>
            <a:prstDash val="solid"/>
          </a:ln>
          <a:effectLst>
            <a:outerShdw sx="100000" sy="100000" kx="0" ky="0" algn="bl" rotWithShape="0" blurRad="152400" dist="38100" dir="5400000">
              <a:srgbClr val="0E5C8A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2375" y="1828800"/>
            <a:ext cx="5532120" cy="457200"/>
          </a:xfrm>
          <a:prstGeom prst="rect">
            <a:avLst/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5255" y="18745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— Native App (목표)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76695" y="23774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학습 CNN + Detection Pipeline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76695" y="28803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39735" y="288036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YOLOv10n (5MB) — 칩 위치·회전·크기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76695" y="31546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939735" y="315468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EfficientFormer-L1 / MobileViT-S (8MB int8)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76695" y="34290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사전학습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939735" y="34290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ImageNet → TTI 10K+ 자체 데이터셋 fine-tune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76695" y="3703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39735" y="370332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OpenCV — Perspective + WB + Auto-exposure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76695" y="3977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39735" y="397764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신선도 0–10 연속 score (회귀)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76695" y="4251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 (선택)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39735" y="425196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Vision LLM — 신규 케이스만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76695" y="4572000"/>
            <a:ext cx="4983480" cy="18288"/>
          </a:xfrm>
          <a:prstGeom prst="rect">
            <a:avLst/>
          </a:prstGeom>
          <a:solidFill>
            <a:srgbClr val="CFDCE2"/>
          </a:solidFill>
          <a:ln w="12700">
            <a:solidFill>
              <a:srgbClr val="CFDC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76695" y="4709160"/>
            <a:ext cx="1188720" cy="320040"/>
          </a:xfrm>
          <a:prstGeom prst="roundRect">
            <a:avLst>
              <a:gd name="adj" fmla="val 48571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6695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+15%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56855" y="4709160"/>
            <a:ext cx="1188720" cy="320040"/>
          </a:xfrm>
          <a:prstGeom prst="roundRect">
            <a:avLst>
              <a:gd name="adj" fmla="val 48571"/>
            </a:avLst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56855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37015" y="4709160"/>
            <a:ext cx="1188720" cy="320040"/>
          </a:xfrm>
          <a:prstGeom prst="roundRect">
            <a:avLst>
              <a:gd name="adj" fmla="val 48571"/>
            </a:avLst>
          </a:prstGeom>
          <a:solidFill>
            <a:srgbClr val="0E5C8A"/>
          </a:solidFill>
          <a:ln w="12700">
            <a:solidFill>
              <a:srgbClr val="0E5C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37015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프라이버시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317175" y="4709160"/>
            <a:ext cx="1188720" cy="320040"/>
          </a:xfrm>
          <a:prstGeom prst="roundRect">
            <a:avLst>
              <a:gd name="adj" fmla="val 48571"/>
            </a:avLst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17175" y="4709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신모델 확장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로드맵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097280" y="5806440"/>
            <a:ext cx="9997135" cy="36576"/>
          </a:xfrm>
          <a:prstGeom prst="rect">
            <a:avLst/>
          </a:prstGeom>
          <a:solidFill>
            <a:srgbClr val="CFDCE2"/>
          </a:solidFill>
          <a:ln w="12700">
            <a:solidFill>
              <a:srgbClr val="CFDC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8408" y="5705856"/>
            <a:ext cx="237744" cy="237744"/>
          </a:xfrm>
          <a:prstGeom prst="ellipse">
            <a:avLst/>
          </a:prstGeom>
          <a:solidFill>
            <a:srgbClr val="4FB3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5440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B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'26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82880" y="6035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TTI 데이터 수집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10K+ 라벨링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310786" y="5705856"/>
            <a:ext cx="237744" cy="237744"/>
          </a:xfrm>
          <a:prstGeom prst="ellipse">
            <a:avLst/>
          </a:prstGeom>
          <a:solidFill>
            <a:srgbClr val="4FB3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89578" y="5440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B3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'26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515258" y="6035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 (int8)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643165" y="5705856"/>
            <a:ext cx="237744" cy="237744"/>
          </a:xfrm>
          <a:prstGeom prst="ellipse">
            <a:avLst/>
          </a:prstGeom>
          <a:solidFill>
            <a:srgbClr val="0E5C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21957" y="5440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5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'26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847637" y="6035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Beta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0975543" y="5705856"/>
            <a:ext cx="237744" cy="237744"/>
          </a:xfrm>
          <a:prstGeom prst="ellipse">
            <a:avLst/>
          </a:prstGeom>
          <a:solidFill>
            <a:srgbClr val="0E5C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454335" y="5440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5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 '27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180015" y="6035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출시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 파일럿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Lotusbio TTI AI 품질 스캐너 — 투자자 자료</dc:title>
  <dc:subject>PptxGenJS Presentation</dc:subject>
  <dc:creator>Lotusbio</dc:creator>
  <cp:lastModifiedBy>Lotusbio</cp:lastModifiedBy>
  <cp:revision>1</cp:revision>
  <dcterms:created xsi:type="dcterms:W3CDTF">2026-04-21T02:01:51Z</dcterms:created>
  <dcterms:modified xsi:type="dcterms:W3CDTF">2026-04-21T02:01:51Z</dcterms:modified>
</cp:coreProperties>
</file>